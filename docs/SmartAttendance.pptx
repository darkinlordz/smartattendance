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embeddedFontLst>
    <p:embeddedFont>
      <p:font typeface="Montserrat"/>
      <p:regular r:id="rId12"/>
      <p:bold r:id="rId13"/>
      <p:italic r:id="rId14"/>
      <p:boldItalic r:id="rId15"/>
    </p:embeddedFont>
    <p:embeddedFont>
      <p:font typeface="Vidaloka"/>
      <p:regular r:id="rId16"/>
    </p:embeddedFont>
    <p:embeddedFont>
      <p:font typeface="Quattrocento Sans"/>
      <p:bold r:id="rId17"/>
      <p:boldItalic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2880">
          <p15:clr>
            <a:srgbClr val="000000"/>
          </p15:clr>
        </p15:guide>
        <p15:guide id="2" orient="horz" pos="162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/>
        <p:guide pos="1620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Montserrat-bold.fntdata"/><Relationship Id="rId12" Type="http://schemas.openxmlformats.org/officeDocument/2006/relationships/font" Target="fonts/Montserrat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Montserrat-boldItalic.fntdata"/><Relationship Id="rId14" Type="http://schemas.openxmlformats.org/officeDocument/2006/relationships/font" Target="fonts/Montserrat-italic.fntdata"/><Relationship Id="rId17" Type="http://schemas.openxmlformats.org/officeDocument/2006/relationships/font" Target="fonts/QuattrocentoSans-bold.fntdata"/><Relationship Id="rId16" Type="http://schemas.openxmlformats.org/officeDocument/2006/relationships/font" Target="fonts/Vidaloka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schemas.openxmlformats.org/officeDocument/2006/relationships/font" Target="fonts/QuattrocentoSans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" name="Google Shape;6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" name="Google Shape;8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8" name="Google Shape;88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az-Latn-AZ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6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9" name="Google Shape;99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az-Latn-AZ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1039975" y="1324500"/>
            <a:ext cx="70641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1040000" y="3377100"/>
            <a:ext cx="7064100" cy="441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cxnSp>
        <p:nvCxnSpPr>
          <p:cNvPr id="11" name="Google Shape;11;p2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" name="Google Shape;12;p2"/>
          <p:cNvCxnSpPr/>
          <p:nvPr/>
        </p:nvCxnSpPr>
        <p:spPr>
          <a:xfrm flipH="1">
            <a:off x="-257975" y="-72550"/>
            <a:ext cx="3047400" cy="1346400"/>
          </a:xfrm>
          <a:prstGeom prst="curvedConnector3">
            <a:avLst>
              <a:gd fmla="val 50000" name="adj1"/>
            </a:avLst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" name="Google Shape;13;p2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" name="Google Shape;14;p2"/>
          <p:cNvCxnSpPr/>
          <p:nvPr/>
        </p:nvCxnSpPr>
        <p:spPr>
          <a:xfrm flipH="1">
            <a:off x="6467450" y="3935375"/>
            <a:ext cx="3047400" cy="1346400"/>
          </a:xfrm>
          <a:prstGeom prst="curvedConnector3">
            <a:avLst>
              <a:gd fmla="val 50000" name="adj1"/>
            </a:avLst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SECTION_TITLE_AND_DESCRIPTION_1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subTitle"/>
          </p:nvPr>
        </p:nvSpPr>
        <p:spPr>
          <a:xfrm>
            <a:off x="895950" y="1682000"/>
            <a:ext cx="3847199" cy="237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lvl="1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713225" y="445025"/>
            <a:ext cx="5679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cxnSp>
        <p:nvCxnSpPr>
          <p:cNvPr id="18" name="Google Shape;18;p3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9" name="Google Shape;19;p3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0" name="Google Shape;20;p3"/>
          <p:cNvCxnSpPr/>
          <p:nvPr/>
        </p:nvCxnSpPr>
        <p:spPr>
          <a:xfrm flipH="1">
            <a:off x="5925450" y="2797500"/>
            <a:ext cx="3378000" cy="2466900"/>
          </a:xfrm>
          <a:prstGeom prst="curvedConnector3">
            <a:avLst>
              <a:gd fmla="val 50000" name="adj1"/>
            </a:avLst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_13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2648400" y="1682000"/>
            <a:ext cx="3847199" cy="237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lvl="1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lvl="2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lvl="3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lvl="4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lvl="5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lvl="6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lvl="7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lvl="8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type="title"/>
          </p:nvPr>
        </p:nvSpPr>
        <p:spPr>
          <a:xfrm>
            <a:off x="1732050" y="445025"/>
            <a:ext cx="5679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cxnSp>
        <p:nvCxnSpPr>
          <p:cNvPr id="24" name="Google Shape;24;p4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5" name="Google Shape;25;p4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6" name="Google Shape;26;p4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fmla="val 50000" name="adj1"/>
            </a:avLst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7" name="Google Shape;27;p4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fmla="val 50000" name="adj1"/>
            </a:avLst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3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/>
          <p:nvPr>
            <p:ph type="title"/>
          </p:nvPr>
        </p:nvSpPr>
        <p:spPr>
          <a:xfrm>
            <a:off x="845550" y="1482825"/>
            <a:ext cx="7452900" cy="12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7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9pPr>
          </a:lstStyle>
          <a:p/>
        </p:txBody>
      </p:sp>
      <p:sp>
        <p:nvSpPr>
          <p:cNvPr id="30" name="Google Shape;30;p5"/>
          <p:cNvSpPr txBox="1"/>
          <p:nvPr>
            <p:ph idx="1" type="subTitle"/>
          </p:nvPr>
        </p:nvSpPr>
        <p:spPr>
          <a:xfrm>
            <a:off x="2299500" y="2972150"/>
            <a:ext cx="4545000" cy="5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cxnSp>
        <p:nvCxnSpPr>
          <p:cNvPr id="31" name="Google Shape;31;p5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2" name="Google Shape;32;p5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idx="1" type="subTitle"/>
          </p:nvPr>
        </p:nvSpPr>
        <p:spPr>
          <a:xfrm>
            <a:off x="895950" y="1682000"/>
            <a:ext cx="3847199" cy="237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 sz="1400"/>
            </a:lvl1pPr>
            <a:lvl2pPr lvl="1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type="title"/>
          </p:nvPr>
        </p:nvSpPr>
        <p:spPr>
          <a:xfrm>
            <a:off x="713225" y="445025"/>
            <a:ext cx="5679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cxnSp>
        <p:nvCxnSpPr>
          <p:cNvPr id="36" name="Google Shape;36;p6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7" name="Google Shape;37;p6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8" name="Google Shape;38;p6"/>
          <p:cNvCxnSpPr/>
          <p:nvPr/>
        </p:nvCxnSpPr>
        <p:spPr>
          <a:xfrm flipH="1">
            <a:off x="5925450" y="2797500"/>
            <a:ext cx="3378000" cy="2466900"/>
          </a:xfrm>
          <a:prstGeom prst="curvedConnector3">
            <a:avLst>
              <a:gd fmla="val 50000" name="adj1"/>
            </a:avLst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noFill/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10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Google Shape;41;p8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2" name="Google Shape;42;p8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10_1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4" name="Google Shape;44;p9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5" name="Google Shape;45;p9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6" name="Google Shape;46;p9"/>
          <p:cNvCxnSpPr/>
          <p:nvPr/>
        </p:nvCxnSpPr>
        <p:spPr>
          <a:xfrm>
            <a:off x="7434174" y="-125600"/>
            <a:ext cx="1993200" cy="1330200"/>
          </a:xfrm>
          <a:prstGeom prst="curvedConnector3">
            <a:avLst>
              <a:gd fmla="val 50000" name="adj1"/>
            </a:avLst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47" name="Google Shape;47;p9"/>
          <p:cNvCxnSpPr/>
          <p:nvPr/>
        </p:nvCxnSpPr>
        <p:spPr>
          <a:xfrm>
            <a:off x="-147274" y="3943475"/>
            <a:ext cx="1993200" cy="1330200"/>
          </a:xfrm>
          <a:prstGeom prst="curvedConnector3">
            <a:avLst>
              <a:gd fmla="val 50000" name="adj1"/>
            </a:avLst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2">
  <p:cSld name="CUSTOM_10_1_1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9" name="Google Shape;49;p10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0" name="Google Shape;50;p10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1" name="Google Shape;51;p10"/>
          <p:cNvCxnSpPr/>
          <p:nvPr/>
        </p:nvCxnSpPr>
        <p:spPr>
          <a:xfrm flipH="1">
            <a:off x="6772150" y="3663450"/>
            <a:ext cx="2823300" cy="1633200"/>
          </a:xfrm>
          <a:prstGeom prst="curvedConnector3">
            <a:avLst>
              <a:gd fmla="val 50000" name="adj1"/>
            </a:avLst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3">
  <p:cSld name="CUSTOM_30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3" name="Google Shape;53;p11"/>
          <p:cNvCxnSpPr/>
          <p:nvPr/>
        </p:nvCxnSpPr>
        <p:spPr>
          <a:xfrm>
            <a:off x="-72550" y="274100"/>
            <a:ext cx="9287400" cy="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4" name="Google Shape;54;p11"/>
          <p:cNvCxnSpPr/>
          <p:nvPr/>
        </p:nvCxnSpPr>
        <p:spPr>
          <a:xfrm>
            <a:off x="-72550" y="4877450"/>
            <a:ext cx="9287400" cy="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5" name="Google Shape;55;p11"/>
          <p:cNvCxnSpPr/>
          <p:nvPr/>
        </p:nvCxnSpPr>
        <p:spPr>
          <a:xfrm>
            <a:off x="-250225" y="4076450"/>
            <a:ext cx="1926900" cy="1161000"/>
          </a:xfrm>
          <a:prstGeom prst="curvedConnector3">
            <a:avLst>
              <a:gd fmla="val 50000" name="adj1"/>
            </a:avLst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6" name="Google Shape;56;p11"/>
          <p:cNvCxnSpPr/>
          <p:nvPr/>
        </p:nvCxnSpPr>
        <p:spPr>
          <a:xfrm>
            <a:off x="7441150" y="-48375"/>
            <a:ext cx="1926900" cy="1161000"/>
          </a:xfrm>
          <a:prstGeom prst="curvedConnector3">
            <a:avLst>
              <a:gd fmla="val 50000" name="adj1"/>
            </a:avLst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7" name="Google Shape;57;p11"/>
          <p:cNvCxnSpPr/>
          <p:nvPr/>
        </p:nvCxnSpPr>
        <p:spPr>
          <a:xfrm flipH="1">
            <a:off x="7454238" y="4053663"/>
            <a:ext cx="1926900" cy="1161000"/>
          </a:xfrm>
          <a:prstGeom prst="curvedConnector3">
            <a:avLst>
              <a:gd fmla="val 50000" name="adj1"/>
            </a:avLst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8" name="Google Shape;58;p11"/>
          <p:cNvCxnSpPr/>
          <p:nvPr/>
        </p:nvCxnSpPr>
        <p:spPr>
          <a:xfrm flipH="1">
            <a:off x="-237137" y="-71162"/>
            <a:ext cx="1926900" cy="1161000"/>
          </a:xfrm>
          <a:prstGeom prst="curvedConnector3">
            <a:avLst>
              <a:gd fmla="val 50000" name="adj1"/>
            </a:avLst>
          </a:prstGeom>
          <a:noFill/>
          <a:ln cap="flat" cmpd="sng" w="2857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theme" Target="../theme/theme2.xml"/><Relationship Id="rId10" Type="http://schemas.openxmlformats.org/officeDocument/2006/relationships/slideLayout" Target="../slideLayouts/slideLayout10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Vidaloka"/>
              <a:buNone/>
              <a:defRPr b="0" i="0" sz="3000" u="none" cap="none" strike="noStrike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1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1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1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1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1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1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1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1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713250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Char char="●"/>
              <a:defRPr b="0" i="0" sz="18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17500" lvl="1" marL="9144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 b="0" i="0" sz="14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17500" lvl="2" marL="13716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 b="0" i="0" sz="14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17500" lvl="3" marL="18288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 b="0" i="0" sz="14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17500" lvl="4" marL="22860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 b="0" i="0" sz="14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17500" lvl="5" marL="27432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 b="0" i="0" sz="14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17500" lvl="6" marL="32004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●"/>
              <a:defRPr b="0" i="0" sz="14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17500" lvl="7" marL="36576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○"/>
              <a:defRPr b="0" i="0" sz="14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17500" lvl="8" marL="4114800" marR="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■"/>
              <a:defRPr b="0" i="0" sz="14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/>
          <p:nvPr>
            <p:ph type="ctrTitle"/>
          </p:nvPr>
        </p:nvSpPr>
        <p:spPr>
          <a:xfrm>
            <a:off x="1039974" y="2350800"/>
            <a:ext cx="70641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Vidaloka"/>
              <a:buNone/>
            </a:pPr>
            <a:r>
              <a:rPr b="0" i="0" lang="az-Latn-AZ" sz="6500" u="none" cap="none" strike="noStrike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rPr>
              <a:t>Ağıllı davamiyyət sistemi</a:t>
            </a:r>
            <a:endParaRPr b="0" i="0" sz="6500" u="none" cap="none" strike="noStrike">
              <a:solidFill>
                <a:schemeClr val="dk1"/>
              </a:solidFill>
              <a:latin typeface="Vidaloka"/>
              <a:ea typeface="Vidaloka"/>
              <a:cs typeface="Vidaloka"/>
              <a:sym typeface="Vidaloka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3"/>
          <p:cNvSpPr txBox="1"/>
          <p:nvPr>
            <p:ph idx="1" type="subTitle"/>
          </p:nvPr>
        </p:nvSpPr>
        <p:spPr>
          <a:xfrm>
            <a:off x="0" y="960000"/>
            <a:ext cx="4465800" cy="212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Autofit/>
          </a:bodyPr>
          <a:lstStyle/>
          <a:p>
            <a:pPr indent="-342900" lvl="0" marL="457200" rtl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</a:pPr>
            <a:r>
              <a:rPr b="0" i="0" lang="az-Latn-AZ" sz="120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0" i="0" lang="az-Latn-AZ" sz="1600" u="none" cap="none" strike="noStrike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rPr>
              <a:t>Bu, müasir üz tanıma texnologiyasına əsaslanan proqram təminatıdır. Sistem, yüksək dəqiqlikli kameralar vasitəsilə insan simalarını skan edərək biometrik məlumatları emal edir və saniyələr ərzində şəxsin kimliyini müəyyənləşdirməyə imkan verir.</a:t>
            </a:r>
            <a:endParaRPr b="0" i="0" sz="1600" u="none" cap="none" strike="noStrike">
              <a:solidFill>
                <a:schemeClr val="dk1"/>
              </a:solidFill>
              <a:latin typeface="Vidaloka"/>
              <a:ea typeface="Vidaloka"/>
              <a:cs typeface="Vidaloka"/>
              <a:sym typeface="Vidaloka"/>
            </a:endParaRPr>
          </a:p>
          <a:p>
            <a:pPr indent="-2540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None/>
            </a:pPr>
            <a:r>
              <a:t/>
            </a:r>
            <a:endParaRPr sz="110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9" name="Google Shape;69;p13"/>
          <p:cNvSpPr txBox="1"/>
          <p:nvPr>
            <p:ph type="title"/>
          </p:nvPr>
        </p:nvSpPr>
        <p:spPr>
          <a:xfrm>
            <a:off x="0" y="273250"/>
            <a:ext cx="9144000" cy="109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az-Latn-AZ"/>
              <a:t>Ağıllı davamiyyət sistemi tam olaraq nədir?</a:t>
            </a:r>
            <a:endParaRPr/>
          </a:p>
        </p:txBody>
      </p:sp>
      <p:sp>
        <p:nvSpPr>
          <p:cNvPr id="70" name="Google Shape;70;p13"/>
          <p:cNvSpPr txBox="1"/>
          <p:nvPr/>
        </p:nvSpPr>
        <p:spPr>
          <a:xfrm>
            <a:off x="4465800" y="960000"/>
            <a:ext cx="3880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4"/>
          <p:cNvSpPr txBox="1"/>
          <p:nvPr>
            <p:ph idx="1" type="subTitle"/>
          </p:nvPr>
        </p:nvSpPr>
        <p:spPr>
          <a:xfrm>
            <a:off x="-12" y="845919"/>
            <a:ext cx="5033100" cy="237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Autofit/>
          </a:bodyPr>
          <a:lstStyle/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•"/>
            </a:pPr>
            <a:r>
              <a:rPr b="0" i="0" lang="az-Latn-AZ" sz="70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0" i="0" lang="az-Latn-AZ" sz="2000" u="none" cap="none" strike="noStrike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rPr>
              <a:t>Biz bu sistemi tətbiq etməkdə əsas məqsədimiz, şagirdlərin dərsə iştirakının qeydiyyat prosesini tamamilə avtomatlaşdırmaq və bununla da məktəb heyətinin inzibati yükünü əhəmiyyətli dərəcədə azaltmaqdır</a:t>
            </a:r>
            <a:r>
              <a:rPr b="0" i="0" lang="az-Latn-AZ" sz="70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sz="800"/>
          </a:p>
        </p:txBody>
      </p:sp>
      <p:sp>
        <p:nvSpPr>
          <p:cNvPr id="76" name="Google Shape;76;p14"/>
          <p:cNvSpPr txBox="1"/>
          <p:nvPr>
            <p:ph type="title"/>
          </p:nvPr>
        </p:nvSpPr>
        <p:spPr>
          <a:xfrm>
            <a:off x="0" y="273225"/>
            <a:ext cx="914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az-Latn-AZ"/>
              <a:t>Biz bunu niyə edirik?</a:t>
            </a:r>
            <a:endParaRPr/>
          </a:p>
        </p:txBody>
      </p:sp>
      <p:sp>
        <p:nvSpPr>
          <p:cNvPr id="77" name="Google Shape;77;p14"/>
          <p:cNvSpPr txBox="1"/>
          <p:nvPr/>
        </p:nvSpPr>
        <p:spPr>
          <a:xfrm>
            <a:off x="5618450" y="1212625"/>
            <a:ext cx="3546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5"/>
          <p:cNvSpPr txBox="1"/>
          <p:nvPr>
            <p:ph type="title"/>
          </p:nvPr>
        </p:nvSpPr>
        <p:spPr>
          <a:xfrm>
            <a:off x="0" y="295850"/>
            <a:ext cx="4270500" cy="12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</a:pPr>
            <a:r>
              <a:rPr lang="az-Latn-AZ"/>
              <a:t>Asanlıq!</a:t>
            </a:r>
            <a:endParaRPr/>
          </a:p>
        </p:txBody>
      </p:sp>
      <p:sp>
        <p:nvSpPr>
          <p:cNvPr id="83" name="Google Shape;83;p15"/>
          <p:cNvSpPr txBox="1"/>
          <p:nvPr>
            <p:ph idx="1" type="subTitle"/>
          </p:nvPr>
        </p:nvSpPr>
        <p:spPr>
          <a:xfrm>
            <a:off x="0" y="1455150"/>
            <a:ext cx="4391100" cy="196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Autofit/>
          </a:bodyPr>
          <a:lstStyle/>
          <a:p>
            <a:pPr indent="-217793" lvl="0" marL="21779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az-Latn-AZ" sz="1200"/>
              <a:t>Bu, intuitiv interfeysə malik olub, istifadəçi dostu şəkildə dizayn edilmiş Qrafik İstifadəçi İnterfeysidir (GUI). Bu sistemin istifadəsi minimum təlimlə, hətta texniki bilikləri olmayanlar üçün də son dərəcə asandır</a:t>
            </a:r>
            <a:r>
              <a:rPr lang="az-Latn-AZ" sz="11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sz="1200"/>
          </a:p>
        </p:txBody>
      </p:sp>
      <p:pic>
        <p:nvPicPr>
          <p:cNvPr id="84" name="Google Shape;84;p15"/>
          <p:cNvPicPr preferRelativeResize="0"/>
          <p:nvPr/>
        </p:nvPicPr>
        <p:blipFill rotWithShape="1">
          <a:blip r:embed="rId3">
            <a:alphaModFix/>
          </a:blip>
          <a:srcRect b="3605" l="3605" r="0" t="0"/>
          <a:stretch/>
        </p:blipFill>
        <p:spPr>
          <a:xfrm>
            <a:off x="4391100" y="295850"/>
            <a:ext cx="4752900" cy="3124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6"/>
          <p:cNvSpPr txBox="1"/>
          <p:nvPr>
            <p:ph type="title"/>
          </p:nvPr>
        </p:nvSpPr>
        <p:spPr>
          <a:xfrm>
            <a:off x="4647000" y="271950"/>
            <a:ext cx="4512900" cy="12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</a:pPr>
            <a:r>
              <a:rPr lang="az-Latn-AZ"/>
              <a:t>Sürət!</a:t>
            </a:r>
            <a:endParaRPr/>
          </a:p>
        </p:txBody>
      </p:sp>
      <p:sp>
        <p:nvSpPr>
          <p:cNvPr id="91" name="Google Shape;91;p16"/>
          <p:cNvSpPr txBox="1"/>
          <p:nvPr>
            <p:ph idx="1" type="subTitle"/>
          </p:nvPr>
        </p:nvSpPr>
        <p:spPr>
          <a:xfrm>
            <a:off x="4630962" y="1430413"/>
            <a:ext cx="4545000" cy="92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Autofit/>
          </a:bodyPr>
          <a:lstStyle/>
          <a:p>
            <a:pPr indent="-342900" lvl="0" marL="457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None/>
            </a:pPr>
            <a:r>
              <a:rPr b="0" i="0" lang="az-Latn-AZ" sz="12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Artıq jurnal yerinə elektron sistemdən istifadə olunur, ona görə də bütün məlumatlar birbaşa m</a:t>
            </a:r>
            <a:r>
              <a:rPr lang="az-Latn-AZ" sz="1200"/>
              <a:t>əktəb </a:t>
            </a:r>
            <a:r>
              <a:rPr b="0" i="0" lang="az-Latn-AZ" sz="12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direktorun kompüterinə gedəcək.</a:t>
            </a:r>
            <a:endParaRPr sz="1200"/>
          </a:p>
        </p:txBody>
      </p:sp>
      <p:pic>
        <p:nvPicPr>
          <p:cNvPr id="92" name="Google Shape;9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71950"/>
            <a:ext cx="4647000" cy="4581001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6"/>
          <p:cNvSpPr txBox="1"/>
          <p:nvPr/>
        </p:nvSpPr>
        <p:spPr>
          <a:xfrm>
            <a:off x="5226000" y="2028475"/>
            <a:ext cx="33549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az-Latn-AZ" sz="5000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rPr>
              <a:t>TechStack</a:t>
            </a:r>
            <a:endParaRPr sz="50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4" name="Google Shape;94;p16"/>
          <p:cNvSpPr txBox="1"/>
          <p:nvPr/>
        </p:nvSpPr>
        <p:spPr>
          <a:xfrm>
            <a:off x="4647000" y="2982775"/>
            <a:ext cx="43149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az-Latn-AZ" sz="10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Proqram üçün əsasən Python dilindən istifadə olunub.</a:t>
            </a:r>
            <a:endParaRPr b="1" sz="10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5" name="Google Shape;95;p16"/>
          <p:cNvSpPr txBox="1"/>
          <p:nvPr/>
        </p:nvSpPr>
        <p:spPr>
          <a:xfrm>
            <a:off x="4647000" y="3169925"/>
            <a:ext cx="4215000" cy="15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Montserrat"/>
              <a:buChar char="●"/>
            </a:pPr>
            <a:r>
              <a:rPr b="1" lang="az-Latn-AZ" sz="10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OpenCV-Python: Kamera və görüntü emalı üçün</a:t>
            </a:r>
            <a:r>
              <a:rPr b="1" lang="az-Latn-AZ" sz="10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  <a:endParaRPr b="1" sz="10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Montserrat"/>
              <a:buChar char="●"/>
            </a:pPr>
            <a:r>
              <a:rPr b="1" lang="az-Latn-AZ" sz="10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NumPy: Tanıma prosesi və hesablama əməliyyatları üçün.</a:t>
            </a:r>
            <a:endParaRPr b="1" sz="10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Montserrat"/>
              <a:buChar char="●"/>
            </a:pPr>
            <a:r>
              <a:rPr b="1" lang="az-Latn-AZ" sz="10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DeepFace: Süni intellekt əsaslı üz tanıma və analiz üçün.</a:t>
            </a:r>
            <a:endParaRPr b="1" sz="10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Montserrat"/>
              <a:buChar char="●"/>
            </a:pPr>
            <a:r>
              <a:rPr b="1" lang="az-Latn-AZ" sz="10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TensorFlow &amp; Keras: GPU istifadə edərək sürətli dərin öyrənmə əməliyyatları üçün.</a:t>
            </a:r>
            <a:endParaRPr b="1" sz="10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Montserrat"/>
              <a:buChar char="●"/>
            </a:pPr>
            <a:r>
              <a:rPr b="1" lang="az-Latn-AZ" sz="10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Playsound: Səs fayllarını oxutmaq üçün.</a:t>
            </a:r>
            <a:endParaRPr b="1" sz="10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Montserrat"/>
              <a:buChar char="●"/>
            </a:pPr>
            <a:r>
              <a:rPr b="1" lang="az-Latn-AZ" sz="10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CustomTkinter: Modern və istifadəsi rahat istifadəçi interfeysi üçün.</a:t>
            </a:r>
            <a:endParaRPr b="1" sz="10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7"/>
          <p:cNvSpPr txBox="1"/>
          <p:nvPr>
            <p:ph type="title"/>
          </p:nvPr>
        </p:nvSpPr>
        <p:spPr>
          <a:xfrm>
            <a:off x="0" y="295925"/>
            <a:ext cx="5835900" cy="12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Vidaloka"/>
              <a:buNone/>
            </a:pPr>
            <a:r>
              <a:rPr b="0" i="0" lang="az-Latn-AZ" sz="7000" u="none" cap="none" strike="noStrike">
                <a:solidFill>
                  <a:schemeClr val="dk1"/>
                </a:solidFill>
                <a:latin typeface="Vidaloka"/>
                <a:ea typeface="Vidaloka"/>
                <a:cs typeface="Vidaloka"/>
                <a:sym typeface="Vidaloka"/>
              </a:rPr>
              <a:t>Təhlükəsizlik!</a:t>
            </a:r>
            <a:endParaRPr b="0" i="0" sz="7000" u="none" cap="none" strike="noStrike">
              <a:solidFill>
                <a:schemeClr val="dk1"/>
              </a:solidFill>
              <a:latin typeface="Vidaloka"/>
              <a:ea typeface="Vidaloka"/>
              <a:cs typeface="Vidaloka"/>
              <a:sym typeface="Vidaloka"/>
            </a:endParaRPr>
          </a:p>
        </p:txBody>
      </p:sp>
      <p:sp>
        <p:nvSpPr>
          <p:cNvPr id="102" name="Google Shape;102;p17"/>
          <p:cNvSpPr txBox="1"/>
          <p:nvPr>
            <p:ph idx="1" type="subTitle"/>
          </p:nvPr>
        </p:nvSpPr>
        <p:spPr>
          <a:xfrm>
            <a:off x="-2" y="1537225"/>
            <a:ext cx="5911200" cy="94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"/>
              <a:buNone/>
            </a:pPr>
            <a:r>
              <a:rPr b="0" i="0" lang="az-Latn-AZ" sz="14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Sistem yalnız qeydiyyatda olanları içəri buraxacaq, qeydiyyatda olmayan və məktəblə əlaqəsi olmayan şəxslə</a:t>
            </a:r>
            <a:r>
              <a:rPr lang="az-Latn-AZ"/>
              <a:t>rin kim olduğunu bilməyi asanlaşdıracaq</a:t>
            </a:r>
            <a:endParaRPr b="0" i="0" sz="1400" u="none" cap="none" strike="noStrike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3" name="Google Shape;103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11293" y="295929"/>
            <a:ext cx="3232711" cy="21908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inimalist Business Slides XL by Slidesgo">
  <a:themeElements>
    <a:clrScheme name="Simple Light">
      <a:dk1>
        <a:srgbClr val="000000"/>
      </a:dk1>
      <a:lt1>
        <a:srgbClr val="F5F2EE"/>
      </a:lt1>
      <a:dk2>
        <a:srgbClr val="000000"/>
      </a:dk2>
      <a:lt2>
        <a:srgbClr val="EEEEEE"/>
      </a:lt2>
      <a:accent1>
        <a:srgbClr val="3F3533"/>
      </a:accent1>
      <a:accent2>
        <a:srgbClr val="3F3533"/>
      </a:accent2>
      <a:accent3>
        <a:srgbClr val="3F3533"/>
      </a:accent3>
      <a:accent4>
        <a:srgbClr val="3F3533"/>
      </a:accent4>
      <a:accent5>
        <a:srgbClr val="3F3533"/>
      </a:accent5>
      <a:accent6>
        <a:srgbClr val="3F3533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