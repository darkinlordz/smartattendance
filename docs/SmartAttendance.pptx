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16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8803165" name="Google Shape;3;n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040319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339792" name="Google Shape;60;p1:notes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3498133" name="Google Shape;61;p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722916" name="Google Shape;65;p2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1227713" name="Google Shape;66;p2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406637" name="Google Shape;72;p3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8141013" name="Google Shape;73;p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06841" name="Google Shape;79;p4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7128325" name="Google Shape;80;p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132275" name="Google Shape;86;p5:notes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8040065" name="Google Shape;87;p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  <p:sp>
        <p:nvSpPr>
          <p:cNvPr id="1583356688" name="Google Shape;88;p5:notes"/>
          <p:cNvSpPr txBox="1"/>
          <p:nvPr>
            <p:ph type="sldNum" idx="12"/>
          </p:nvPr>
        </p:nvSpPr>
        <p:spPr bwMode="auto"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az-Latn-AZ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‹#›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829047" name="Google Shape;97;p6:notes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8378268" name="Google Shape;98;p6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  <p:sp>
        <p:nvSpPr>
          <p:cNvPr id="229196284" name="Google Shape;99;p6:notes"/>
          <p:cNvSpPr txBox="1"/>
          <p:nvPr>
            <p:ph type="sldNum" idx="12"/>
          </p:nvPr>
        </p:nvSpPr>
        <p:spPr bwMode="auto"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az-Latn-AZ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‹#›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129550" name="Google Shape;60;p1:notes"/>
          <p:cNvSpPr/>
          <p:nvPr>
            <p:ph type="sldImg" idx="2"/>
          </p:nvPr>
        </p:nvSpPr>
        <p:spPr bwMode="auto">
          <a:xfrm>
            <a:off x="381299" y="685800"/>
            <a:ext cx="6096074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344381" name="Google Shape;61;p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726273" name="Google Shape;9;p2"/>
          <p:cNvSpPr txBox="1"/>
          <p:nvPr>
            <p:ph type="ctrTitle"/>
          </p:nvPr>
        </p:nvSpPr>
        <p:spPr bwMode="auto">
          <a:xfrm>
            <a:off x="1039975" y="1324500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054679975" name="Google Shape;10;p2"/>
          <p:cNvSpPr txBox="1"/>
          <p:nvPr>
            <p:ph type="subTitle" idx="1"/>
          </p:nvPr>
        </p:nvSpPr>
        <p:spPr bwMode="auto">
          <a:xfrm>
            <a:off x="1040000" y="3377100"/>
            <a:ext cx="70641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cxnSp>
        <p:nvCxnSpPr>
          <p:cNvPr id="1276928792" name="Google Shape;11;p2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16732641" name="Google Shape;12;p2"/>
          <p:cNvCxnSpPr/>
          <p:nvPr/>
        </p:nvCxnSpPr>
        <p:spPr bwMode="auto"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01379590" name="Google Shape;13;p2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60335023" name="Google Shape;14;p2"/>
          <p:cNvCxnSpPr/>
          <p:nvPr/>
        </p:nvCxnSpPr>
        <p:spPr bwMode="auto"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text 1" preserve="0" showMasterPhAnim="0" showMasterSp="1" userDrawn="1">
  <p:cSld name="SECTION_TITLE_AND_DESCRIPTION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531714" name="Google Shape;16;p3"/>
          <p:cNvSpPr txBox="1"/>
          <p:nvPr>
            <p:ph type="subTitle" idx="1"/>
          </p:nvPr>
        </p:nvSpPr>
        <p:spPr bwMode="auto">
          <a:xfrm>
            <a:off x="89595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728323" name="Google Shape;17;p3"/>
          <p:cNvSpPr txBox="1"/>
          <p:nvPr>
            <p:ph type="title"/>
          </p:nvPr>
        </p:nvSpPr>
        <p:spPr bwMode="auto">
          <a:xfrm>
            <a:off x="713225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64327882" name="Google Shape;18;p3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49777892" name="Google Shape;19;p3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52518534" name="Google Shape;20;p3"/>
          <p:cNvCxnSpPr/>
          <p:nvPr/>
        </p:nvCxnSpPr>
        <p:spPr bwMode="auto"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text" preserve="0" showMasterPhAnim="0" showMasterSp="1" userDrawn="1">
  <p:cSld name="CUSTOM_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537513" name="Google Shape;22;p4"/>
          <p:cNvSpPr txBox="1"/>
          <p:nvPr>
            <p:ph type="subTitle" idx="1"/>
          </p:nvPr>
        </p:nvSpPr>
        <p:spPr bwMode="auto">
          <a:xfrm>
            <a:off x="264840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50479336" name="Google Shape;23;p4"/>
          <p:cNvSpPr txBox="1"/>
          <p:nvPr>
            <p:ph type="title"/>
          </p:nvPr>
        </p:nvSpPr>
        <p:spPr bwMode="auto">
          <a:xfrm>
            <a:off x="1732050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979171402" name="Google Shape;24;p4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84510822" name="Google Shape;25;p4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00194970" name="Google Shape;26;p4"/>
          <p:cNvCxnSpPr/>
          <p:nvPr/>
        </p:nvCxnSpPr>
        <p:spPr bwMode="auto"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4444521" name="Google Shape;27;p4"/>
          <p:cNvCxnSpPr/>
          <p:nvPr/>
        </p:nvCxnSpPr>
        <p:spPr bwMode="auto"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text 1" preserve="0" showMasterPhAnim="0" showMasterSp="1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019624" name="Google Shape;29;p5"/>
          <p:cNvSpPr txBox="1"/>
          <p:nvPr>
            <p:ph type="title"/>
          </p:nvPr>
        </p:nvSpPr>
        <p:spPr bwMode="auto">
          <a:xfrm>
            <a:off x="845550" y="1482825"/>
            <a:ext cx="7452900" cy="1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pPr>
              <a:defRPr/>
            </a:pPr>
            <a:endParaRPr/>
          </a:p>
        </p:txBody>
      </p:sp>
      <p:sp>
        <p:nvSpPr>
          <p:cNvPr id="1096113444" name="Google Shape;30;p5"/>
          <p:cNvSpPr txBox="1"/>
          <p:nvPr>
            <p:ph type="subTitle" idx="1"/>
          </p:nvPr>
        </p:nvSpPr>
        <p:spPr bwMode="auto">
          <a:xfrm>
            <a:off x="2299500" y="2972150"/>
            <a:ext cx="45450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cxnSp>
        <p:nvCxnSpPr>
          <p:cNvPr id="1219470749" name="Google Shape;31;p5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02591993" name="Google Shape;32;p5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title and description" preserve="0" showMasterPhAnim="0" showMasterSp="1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455089" name="Google Shape;34;p6"/>
          <p:cNvSpPr txBox="1"/>
          <p:nvPr>
            <p:ph type="subTitle" idx="1"/>
          </p:nvPr>
        </p:nvSpPr>
        <p:spPr bwMode="auto">
          <a:xfrm>
            <a:off x="89595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50138418" name="Google Shape;35;p6"/>
          <p:cNvSpPr txBox="1"/>
          <p:nvPr>
            <p:ph type="title"/>
          </p:nvPr>
        </p:nvSpPr>
        <p:spPr bwMode="auto">
          <a:xfrm>
            <a:off x="713225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41281966" name="Google Shape;36;p6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4155872" name="Google Shape;37;p6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70522619" name="Google Shape;38;p6"/>
          <p:cNvCxnSpPr/>
          <p:nvPr/>
        </p:nvCxnSpPr>
        <p:spPr bwMode="auto"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" preserve="0" showMasterPhAnim="0" showMasterSp="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771959875" name="Google Shape;41;p8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47705439" name="Google Shape;42;p8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1" preserve="0" showMasterPhAnim="0" showMasterSp="1" userDrawn="1">
  <p:cSld name="CUSTOM_10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15930289" name="Google Shape;44;p9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5532976" name="Google Shape;45;p9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57378147" name="Google Shape;46;p9"/>
          <p:cNvCxnSpPr/>
          <p:nvPr/>
        </p:nvCxnSpPr>
        <p:spPr bwMode="auto">
          <a:xfrm>
            <a:off x="7434174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54202764" name="Google Shape;47;p9"/>
          <p:cNvCxnSpPr/>
          <p:nvPr/>
        </p:nvCxnSpPr>
        <p:spPr bwMode="auto">
          <a:xfrm>
            <a:off x="-147274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2" preserve="0" showMasterPhAnim="0" showMasterSp="1" userDrawn="1">
  <p:cSld name="CUSTOM_10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769059305" name="Google Shape;49;p10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1261044" name="Google Shape;50;p10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84291096" name="Google Shape;51;p10"/>
          <p:cNvCxnSpPr/>
          <p:nvPr/>
        </p:nvCxnSpPr>
        <p:spPr bwMode="auto"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3" preserve="0" showMasterPhAnim="0" showMasterSp="1" userDrawn="1">
  <p:cSld name="CUSTOM_3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184266943" name="Google Shape;53;p11"/>
          <p:cNvCxnSpPr/>
          <p:nvPr/>
        </p:nvCxnSpPr>
        <p:spPr bwMode="auto"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15784478" name="Google Shape;54;p11"/>
          <p:cNvCxnSpPr/>
          <p:nvPr/>
        </p:nvCxnSpPr>
        <p:spPr bwMode="auto"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55200036" name="Google Shape;55;p11"/>
          <p:cNvCxnSpPr/>
          <p:nvPr/>
        </p:nvCxnSpPr>
        <p:spPr bwMode="auto"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82685239" name="Google Shape;56;p11"/>
          <p:cNvCxnSpPr/>
          <p:nvPr/>
        </p:nvCxnSpPr>
        <p:spPr bwMode="auto"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67859747" name="Google Shape;57;p11"/>
          <p:cNvCxnSpPr/>
          <p:nvPr/>
        </p:nvCxnSpPr>
        <p:spPr bwMode="auto"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9397460" name="Google Shape;58;p11"/>
          <p:cNvCxnSpPr/>
          <p:nvPr/>
        </p:nvCxnSpPr>
        <p:spPr bwMode="auto"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244978" name="Google Shape;6;p1"/>
          <p:cNvSpPr txBox="1"/>
          <p:nvPr>
            <p:ph type="title"/>
          </p:nvPr>
        </p:nvSpPr>
        <p:spPr bwMode="auto"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89818708" name="Google Shape;7;p1"/>
          <p:cNvSpPr txBox="1"/>
          <p:nvPr>
            <p:ph type="body" idx="1"/>
          </p:nvPr>
        </p:nvSpPr>
        <p:spPr bwMode="auto"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1pPr>
            <a:lvl2pPr marL="914400" marR="0" lvl="1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2pPr>
            <a:lvl3pPr marL="1371600" marR="0" lvl="2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3pPr>
            <a:lvl4pPr marL="1828800" marR="0" lvl="3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4pPr>
            <a:lvl5pPr marL="2286000" marR="0" lvl="4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5pPr>
            <a:lvl6pPr marL="2743200" marR="0" lvl="5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6pPr>
            <a:lvl7pPr marL="3200400" marR="0" lvl="6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7pPr>
            <a:lvl8pPr marL="3657600" marR="0" lvl="7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8pPr>
            <a:lvl9pPr marL="4114800" marR="0" lvl="8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874723" name="Google Shape;63;p12"/>
          <p:cNvSpPr txBox="1"/>
          <p:nvPr>
            <p:ph type="ctrTitle"/>
          </p:nvPr>
        </p:nvSpPr>
        <p:spPr bwMode="auto">
          <a:xfrm>
            <a:off x="1039974" y="2350800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Vidaloka"/>
              <a:buNone/>
              <a:defRPr/>
            </a:pPr>
            <a:r>
              <a:rPr lang="az-Latn-AZ" sz="65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Ağıllı davamiyyət sistemi</a:t>
            </a:r>
            <a:endParaRPr sz="6500" b="0" i="0" u="none" strike="noStrike" cap="none">
              <a:solidFill>
                <a:schemeClr val="dk1"/>
              </a:solidFill>
              <a:latin typeface="Vidaloka"/>
              <a:ea typeface="Vidaloka"/>
              <a:cs typeface="Vidaloka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884912" name="Google Shape;68;p13"/>
          <p:cNvSpPr txBox="1"/>
          <p:nvPr>
            <p:ph type="subTitle" idx="1"/>
          </p:nvPr>
        </p:nvSpPr>
        <p:spPr bwMode="auto">
          <a:xfrm flipH="0" flipV="0">
            <a:off x="0" y="959999"/>
            <a:ext cx="4465800" cy="3874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t" anchorCtr="0">
            <a:noAutofit/>
          </a:bodyPr>
          <a:lstStyle/>
          <a:p>
            <a:pPr marL="457200" lvl="0" indent="-3429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/>
            </a:pPr>
            <a:r>
              <a:rPr lang="az-Latn-AZ"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az-Latn-AZ" sz="22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Bu, müasir üz tanıma texnologiyasına əsaslanan proqram təminatıdır. Sistem, yüksək dəqiqlikli kameralar vasitəsilə insan simalarını skan edərək biometrik məlumatları emal edir və saniyələr ərzində şəxsin kimliyini müəyyənləşdirməyə imkan verir.</a:t>
            </a:r>
            <a:endParaRPr sz="2200" b="0" i="0" u="none" strike="noStrike" cap="none">
              <a:solidFill>
                <a:schemeClr val="dk1"/>
              </a:solidFill>
              <a:latin typeface="Vidaloka"/>
              <a:ea typeface="Vidaloka"/>
              <a:cs typeface="Vidaloka"/>
            </a:endParaRPr>
          </a:p>
          <a:p>
            <a:pPr marL="45720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/>
            </a:pPr>
            <a:endParaRPr sz="1100">
              <a:latin typeface="Quattrocento Sans"/>
              <a:ea typeface="Quattrocento Sans"/>
              <a:cs typeface="Quattrocento Sans"/>
            </a:endParaRPr>
          </a:p>
        </p:txBody>
      </p:sp>
      <p:sp>
        <p:nvSpPr>
          <p:cNvPr id="168437646" name="Google Shape;69;p13"/>
          <p:cNvSpPr txBox="1"/>
          <p:nvPr>
            <p:ph type="title"/>
          </p:nvPr>
        </p:nvSpPr>
        <p:spPr bwMode="auto">
          <a:xfrm>
            <a:off x="0" y="273250"/>
            <a:ext cx="9144000" cy="10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pPr>
            <a:r>
              <a:rPr lang="az-Latn-AZ"/>
              <a:t>Ağıllı davamiyyət sistemi tam olaraq nədir?</a:t>
            </a:r>
            <a:endParaRPr/>
          </a:p>
        </p:txBody>
      </p:sp>
      <p:sp>
        <p:nvSpPr>
          <p:cNvPr id="1128867472" name="Google Shape;70;p13"/>
          <p:cNvSpPr txBox="1"/>
          <p:nvPr/>
        </p:nvSpPr>
        <p:spPr bwMode="auto">
          <a:xfrm>
            <a:off x="4321116" y="1022052"/>
            <a:ext cx="38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980580819" name=""/>
          <p:cNvSpPr txBox="1"/>
          <p:nvPr/>
        </p:nvSpPr>
        <p:spPr bwMode="auto">
          <a:xfrm rot="0" flipH="0" flipV="0">
            <a:off x="242961" y="3219208"/>
            <a:ext cx="349725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/>
          </a:p>
        </p:txBody>
      </p:sp>
      <p:pic>
        <p:nvPicPr>
          <p:cNvPr id="21455027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72000" y="1084104"/>
            <a:ext cx="3073348" cy="3073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396946" name="Google Shape;75;p14"/>
          <p:cNvSpPr txBox="1"/>
          <p:nvPr>
            <p:ph type="subTitle" idx="1"/>
          </p:nvPr>
        </p:nvSpPr>
        <p:spPr bwMode="auto">
          <a:xfrm>
            <a:off x="-12" y="845919"/>
            <a:ext cx="5033100" cy="23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/>
            </a:pPr>
            <a:r>
              <a:rPr lang="az-Latn-AZ" sz="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az-Latn-AZ" sz="2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Biz bu sistemi tətbiq etməkdə əsas məqsədimiz, şagirdlərin dərsə iştirakının qeydiyyat prosesini tamamilə avtomatlaşdırmaq və bununla da məktəb heyətinin inzibati yükünü əhəmiyyətli dərəcədə azaltmaqdır</a:t>
            </a:r>
            <a:r>
              <a:rPr lang="az-Latn-AZ" sz="7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800"/>
          </a:p>
        </p:txBody>
      </p:sp>
      <p:sp>
        <p:nvSpPr>
          <p:cNvPr id="1080835111" name="Google Shape;76;p14"/>
          <p:cNvSpPr txBox="1"/>
          <p:nvPr>
            <p:ph type="title"/>
          </p:nvPr>
        </p:nvSpPr>
        <p:spPr bwMode="auto">
          <a:xfrm>
            <a:off x="0" y="273225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pPr>
            <a:r>
              <a:rPr lang="az-Latn-AZ"/>
              <a:t>Biz bunu niyə edirik?</a:t>
            </a:r>
            <a:endParaRPr/>
          </a:p>
        </p:txBody>
      </p:sp>
      <p:sp>
        <p:nvSpPr>
          <p:cNvPr id="716474519" name="Google Shape;77;p14"/>
          <p:cNvSpPr txBox="1"/>
          <p:nvPr/>
        </p:nvSpPr>
        <p:spPr bwMode="auto">
          <a:xfrm>
            <a:off x="5618450" y="1212625"/>
            <a:ext cx="354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127523446" name=""/>
          <p:cNvSpPr txBox="1"/>
          <p:nvPr/>
        </p:nvSpPr>
        <p:spPr bwMode="auto">
          <a:xfrm rot="0" flipH="0" flipV="0">
            <a:off x="4707549" y="939458"/>
            <a:ext cx="3638514" cy="2286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457200" marR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/>
            </a:pPr>
            <a: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  <a:t>Bu ağıllı proqram təminatı ilə məktəbiniz daha təhlükəsiz, müəllimlər isə daha az yüklənmiş olacaq!</a:t>
            </a:r>
            <a:b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</a:br>
            <a: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  <a:t> Artıq kənar şəxslərin girişi avtomatik məhdudlaşdırı</a:t>
            </a:r>
            <a: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  <a:t>l</a:t>
            </a:r>
            <a: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  <a:t>ır, jurnal yazmaq üçün sərf olunan vaxt isə xeyli qısalır.</a:t>
            </a:r>
            <a:r>
              <a:rPr lang="az-Latn-AZ" sz="1800" b="0" i="0" u="none" strike="noStrike" cap="none" spc="0">
                <a:solidFill/>
                <a:latin typeface="undefined"/>
                <a:ea typeface="undefined"/>
                <a:cs typeface="undefined"/>
              </a:rPr>
              <a:t> 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662480" name="Google Shape;82;p15"/>
          <p:cNvSpPr txBox="1"/>
          <p:nvPr>
            <p:ph type="title"/>
          </p:nvPr>
        </p:nvSpPr>
        <p:spPr bwMode="auto">
          <a:xfrm>
            <a:off x="-241139" y="295849"/>
            <a:ext cx="4270500" cy="1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/>
            </a:pPr>
            <a:r>
              <a:rPr lang="az-Latn-AZ"/>
              <a:t>Asanlıq!</a:t>
            </a:r>
            <a:endParaRPr/>
          </a:p>
        </p:txBody>
      </p:sp>
      <p:sp>
        <p:nvSpPr>
          <p:cNvPr id="1938663351" name="Google Shape;83;p15"/>
          <p:cNvSpPr txBox="1"/>
          <p:nvPr>
            <p:ph type="subTitle" idx="1"/>
          </p:nvPr>
        </p:nvSpPr>
        <p:spPr bwMode="auto">
          <a:xfrm>
            <a:off x="-68447" y="1455149"/>
            <a:ext cx="4391100" cy="19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217793" marR="0" lvl="0" indent="-21779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/>
            </a:pPr>
            <a:r>
              <a:rPr lang="az-Latn-AZ" sz="1600"/>
              <a:t>Bu, intuitiv interfeysə malik olub, istifadəçi dostu şəkildə dizayn edilmiş Qrafik İstifadəçi İnterfeysidir (GUI). Bu sistemin istifadəsi minimum təlimlə, hətta texniki bilikləri olmayanlar üçün də son dərəcə asandır</a:t>
            </a:r>
            <a:r>
              <a:rPr lang="az-Latn-AZ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1600"/>
          </a:p>
        </p:txBody>
      </p:sp>
      <p:pic>
        <p:nvPicPr>
          <p:cNvPr id="966138434" name="Google Shape;84;p15"/>
          <p:cNvPicPr/>
          <p:nvPr/>
        </p:nvPicPr>
        <p:blipFill rotWithShape="1">
          <a:blip r:embed="rId3">
            <a:alphaModFix/>
          </a:blip>
          <a:srcRect l="3605" t="0" r="0" b="3605"/>
          <a:stretch/>
        </p:blipFill>
        <p:spPr bwMode="auto">
          <a:xfrm>
            <a:off x="4322651" y="819607"/>
            <a:ext cx="4752900" cy="3124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9744987" name=""/>
          <p:cNvSpPr txBox="1"/>
          <p:nvPr/>
        </p:nvSpPr>
        <p:spPr bwMode="auto">
          <a:xfrm rot="0" flipH="0" flipV="0">
            <a:off x="180" y="3166387"/>
            <a:ext cx="4253843" cy="15548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17792" marR="0" indent="-2177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/>
            </a:pPr>
            <a:r>
              <a:rPr lang="az-Latn-AZ" sz="1600" b="0" i="0" u="none" strike="noStrike" cap="none" spc="0">
                <a:solidFill/>
                <a:latin typeface="undefined"/>
                <a:ea typeface="undefined"/>
                <a:cs typeface="undefined"/>
              </a:rPr>
              <a:t>İ</a:t>
            </a:r>
            <a:r>
              <a:rPr lang="az-Latn-AZ" sz="1600" b="0" i="0" u="none" strike="noStrike" cap="none" spc="0">
                <a:solidFill/>
                <a:latin typeface="undefined"/>
                <a:ea typeface="undefined"/>
                <a:cs typeface="undefined"/>
              </a:rPr>
              <a:t>stifadə rahatlığı sayəsində sistem hər yaşda və hər texnoloji səviyyədə olan müəllimlər üçün əlçatan olur. Sadə interfeys dərs prosesini sürətləndirir və mü</a:t>
            </a:r>
            <a:r>
              <a:rPr lang="az-Latn-AZ" sz="1600" b="0" i="0" u="none" strike="noStrike" cap="none" spc="0">
                <a:solidFill/>
                <a:latin typeface="undefined"/>
                <a:ea typeface="undefined"/>
                <a:cs typeface="undefined"/>
              </a:rPr>
              <a:t>əllimlərə daha çox vaxtı tədrisə ayırmaq imkanı yaradır.</a:t>
            </a:r>
            <a:endParaRPr sz="1600"/>
          </a:p>
        </p:txBody>
      </p:sp>
      <p:pic>
        <p:nvPicPr>
          <p:cNvPr id="64390418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455727" y="349651"/>
            <a:ext cx="658031" cy="6580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699005" name="Google Shape;90;p16"/>
          <p:cNvSpPr txBox="1"/>
          <p:nvPr>
            <p:ph type="title"/>
          </p:nvPr>
        </p:nvSpPr>
        <p:spPr bwMode="auto">
          <a:xfrm>
            <a:off x="4647000" y="271950"/>
            <a:ext cx="4512900" cy="1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/>
            </a:pPr>
            <a:r>
              <a:rPr lang="az-Latn-AZ"/>
              <a:t>Sürət!</a:t>
            </a:r>
            <a:endParaRPr/>
          </a:p>
        </p:txBody>
      </p:sp>
      <p:sp>
        <p:nvSpPr>
          <p:cNvPr id="1234394305" name="Google Shape;91;p16"/>
          <p:cNvSpPr txBox="1"/>
          <p:nvPr>
            <p:ph type="subTitle" idx="1"/>
          </p:nvPr>
        </p:nvSpPr>
        <p:spPr bwMode="auto">
          <a:xfrm>
            <a:off x="4630962" y="1430413"/>
            <a:ext cx="45450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None/>
              <a:defRPr/>
            </a:pPr>
            <a:r>
              <a:rPr lang="az-Latn-AZ"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Artıq jurnal yerinə elektron sistemdən istifadə olunur, ona görə də bütün məlumatlar birbaşa m</a:t>
            </a:r>
            <a:r>
              <a:rPr lang="az-Latn-AZ" sz="1200"/>
              <a:t>əktəb </a:t>
            </a:r>
            <a:r>
              <a:rPr lang="az-Latn-AZ"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direktorun kompüterinə gedəcək.</a:t>
            </a:r>
            <a:endParaRPr sz="1200"/>
          </a:p>
        </p:txBody>
      </p:sp>
      <p:pic>
        <p:nvPicPr>
          <p:cNvPr id="1166180612" name="Google Shape;92;p16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 flipH="0" flipV="0">
            <a:off x="157974" y="431331"/>
            <a:ext cx="4233170" cy="4280835"/>
          </a:xfrm>
          <a:prstGeom prst="rect">
            <a:avLst/>
          </a:prstGeom>
          <a:noFill/>
          <a:ln>
            <a:noFill/>
          </a:ln>
        </p:spPr>
      </p:pic>
      <p:sp>
        <p:nvSpPr>
          <p:cNvPr id="1347526471" name="Google Shape;93;p16"/>
          <p:cNvSpPr txBox="1"/>
          <p:nvPr/>
        </p:nvSpPr>
        <p:spPr bwMode="auto">
          <a:xfrm>
            <a:off x="5226000" y="2028475"/>
            <a:ext cx="33549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az-Latn-AZ" sz="5000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TechStack</a:t>
            </a:r>
            <a:endParaRPr sz="5000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92724974" name="Google Shape;94;p16"/>
          <p:cNvSpPr txBox="1"/>
          <p:nvPr/>
        </p:nvSpPr>
        <p:spPr bwMode="auto">
          <a:xfrm>
            <a:off x="4647000" y="2982775"/>
            <a:ext cx="4314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Proqram üçün əsasən Python dilindən istifadə olunub.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859818316" name="Google Shape;95;p16"/>
          <p:cNvSpPr txBox="1"/>
          <p:nvPr/>
        </p:nvSpPr>
        <p:spPr bwMode="auto">
          <a:xfrm>
            <a:off x="4647000" y="3169925"/>
            <a:ext cx="4215000" cy="15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OpenCV-Python: Kamera və görüntü emalı üçün</a:t>
            </a: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NumPy: Tanıma prosesi və hesablama əməliyyatları üçün.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DeepFace: Süni intellekt əsaslı üz tanıma və analiz üçün.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TensorFlow &amp; Keras: GPU istifadə edərək sürətli dərin öyrənmə əməliyyatları üçün.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Playsound: Səs fayllarını oxutmaq üçün.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  <a:defRPr/>
            </a:pPr>
            <a:r>
              <a:rPr lang="az-Latn-AZ" sz="1000" b="1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CustomTkinter: Modern və istifadəsi rahat istifadəçi interfeysi üçün.</a:t>
            </a:r>
            <a:endParaRPr sz="1000" b="1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210967318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102986" y="390188"/>
            <a:ext cx="477912" cy="4779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506279" name="Google Shape;101;p17"/>
          <p:cNvSpPr txBox="1"/>
          <p:nvPr>
            <p:ph type="title"/>
          </p:nvPr>
        </p:nvSpPr>
        <p:spPr bwMode="auto">
          <a:xfrm>
            <a:off x="-180854" y="295928"/>
            <a:ext cx="5835899" cy="1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Vidaloka"/>
              <a:buNone/>
              <a:defRPr/>
            </a:pPr>
            <a:r>
              <a:rPr lang="az-Latn-AZ" sz="7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Təhlükəsizlik!</a:t>
            </a:r>
            <a:endParaRPr sz="7000" b="0" i="0" u="none" strike="noStrike" cap="none">
              <a:solidFill>
                <a:schemeClr val="dk1"/>
              </a:solidFill>
              <a:latin typeface="Vidaloka"/>
              <a:ea typeface="Vidaloka"/>
              <a:cs typeface="Vidaloka"/>
            </a:endParaRPr>
          </a:p>
        </p:txBody>
      </p:sp>
      <p:sp>
        <p:nvSpPr>
          <p:cNvPr id="1063723458" name="Google Shape;102;p17"/>
          <p:cNvSpPr txBox="1"/>
          <p:nvPr>
            <p:ph type="subTitle" idx="1"/>
          </p:nvPr>
        </p:nvSpPr>
        <p:spPr bwMode="auto">
          <a:xfrm>
            <a:off x="-1" y="1742193"/>
            <a:ext cx="59112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54121" marR="0" lvl="0" indent="-23982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/>
            </a:pPr>
            <a:r>
              <a:rPr lang="az-Latn-AZ" sz="18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Sistem yalnız qeydiyyatda olanları içəri buraxacaq, qeydiyyatda olmayan və məktəblə əlaqəsi olmayan şəxslə</a:t>
            </a:r>
            <a:r>
              <a:rPr lang="az-Latn-AZ" sz="1800"/>
              <a:t>rin kim olduğunu bilməyi asanlaşdıracaq</a:t>
            </a:r>
            <a:endParaRPr sz="1800" b="0" i="0" u="none" strike="noStrike" cap="none"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867872662" name="Google Shape;103;p17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 flipH="0" flipV="0">
            <a:off x="5728290" y="805068"/>
            <a:ext cx="3400063" cy="2353854"/>
          </a:xfrm>
          <a:prstGeom prst="rect">
            <a:avLst/>
          </a:prstGeom>
          <a:noFill/>
          <a:ln>
            <a:noFill/>
          </a:ln>
        </p:spPr>
      </p:pic>
      <p:sp>
        <p:nvSpPr>
          <p:cNvPr id="797903995" name=""/>
          <p:cNvSpPr txBox="1"/>
          <p:nvPr/>
        </p:nvSpPr>
        <p:spPr bwMode="auto">
          <a:xfrm rot="0" flipH="0" flipV="0">
            <a:off x="-1" y="3158924"/>
            <a:ext cx="6652404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54121" marR="0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/>
            </a:pPr>
            <a:r>
              <a:rPr lang="az-Latn-AZ" sz="1800" b="0" i="0" u="none" strike="noStrike" cap="none" spc="0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Sistem məktəbin təhlükəsizlik kameralarına inteqrasiya olunduqda, hər hansı hadisə baş verən anda orada iştirak edən bütün </a:t>
            </a:r>
            <a:r>
              <a:rPr lang="az-Latn-AZ" sz="1800" b="0" i="0" u="none" strike="noStrike" cap="none" spc="0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şəxslərin </a:t>
            </a:r>
            <a:r>
              <a:rPr lang="az-Latn-AZ" sz="1800" b="0" i="0" u="none" strike="noStrike" cap="none" spc="0">
                <a:solidFill>
                  <a:schemeClr val="dk2"/>
                </a:solidFill>
                <a:latin typeface="Montserrat"/>
                <a:ea typeface="Montserrat"/>
                <a:cs typeface="Montserrat"/>
              </a:rPr>
              <a:t>adları ekranda görünür. Bu isə hadisənin gedişatını anlamağı və araşdırmanı xeyli sadələşdirir</a:t>
            </a:r>
            <a:endParaRPr/>
          </a:p>
        </p:txBody>
      </p:sp>
      <p:pic>
        <p:nvPicPr>
          <p:cNvPr id="70948807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350110" y="352399"/>
            <a:ext cx="452669" cy="4526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004514" name="Google Shape;63;p12"/>
          <p:cNvSpPr txBox="1"/>
          <p:nvPr>
            <p:ph type="ctrTitle"/>
          </p:nvPr>
        </p:nvSpPr>
        <p:spPr bwMode="auto">
          <a:xfrm>
            <a:off x="1039973" y="1818835"/>
            <a:ext cx="7064100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Vidaloka"/>
              <a:buNone/>
              <a:defRPr/>
            </a:pPr>
            <a:r>
              <a:rPr lang="az-Latn-AZ" sz="65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</a:rPr>
              <a:t>Slaydın sonu</a:t>
            </a:r>
            <a:endParaRPr sz="6500" b="0" i="0" u="none" strike="noStrike" cap="none">
              <a:solidFill>
                <a:schemeClr val="dk1"/>
              </a:solidFill>
              <a:latin typeface="Vidaloka"/>
              <a:ea typeface="Vidaloka"/>
              <a:cs typeface="Vidaloka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ONLYOFFICE/9.1.0.167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